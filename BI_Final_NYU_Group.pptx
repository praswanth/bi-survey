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457200"/>
            <a:ext cx="5943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BUSINESS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170432"/>
            <a:ext cx="5943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INSIDER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457200" y="2029968"/>
            <a:ext cx="5303520" cy="0"/>
          </a:xfrm>
          <a:prstGeom prst="straightConnector1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457200" y="215798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700"/>
              <a:buFont typeface="Georgia"/>
              <a:buNone/>
            </a:pPr>
            <a:r>
              <a:rPr b="0" i="1" lang="en-US" sz="1700" u="none" cap="none" strike="noStrike">
                <a:solidFill>
                  <a:srgbClr val="BBBBBB"/>
                </a:solidFill>
                <a:latin typeface="Georgia"/>
                <a:ea typeface="Georgia"/>
                <a:cs typeface="Georgia"/>
                <a:sym typeface="Georgia"/>
              </a:rPr>
              <a:t>From Publisher to Platform: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487168"/>
            <a:ext cx="6400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Moves to Convert 18-34 Year-Olds Into Subscribers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4622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MAY </a:t>
            </a:r>
            <a:r>
              <a:rPr lang="en-US" sz="7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7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, 2026  |  CONFIDENTIAL  |  BUSINESS INSIDER | NYU</a:t>
            </a:r>
            <a:endParaRPr sz="7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636008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Consulting Team: Hannuo  |  Amaan  |  Izzie  |  Icy  |  Praswanth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967728" y="384048"/>
            <a:ext cx="1719072" cy="438912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995160" y="548640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112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995160" y="1051560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Survey responses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7114032" y="1353312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/>
          <p:nvPr/>
        </p:nvSpPr>
        <p:spPr>
          <a:xfrm>
            <a:off x="6995160" y="1572768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70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995160" y="2075688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Aged 18-34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7114032" y="2377440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3"/>
          <p:cNvSpPr/>
          <p:nvPr/>
        </p:nvSpPr>
        <p:spPr>
          <a:xfrm>
            <a:off x="6995160" y="2596896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995160" y="3099816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Research pillars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3"/>
          <p:cNvCxnSpPr/>
          <p:nvPr/>
        </p:nvCxnSpPr>
        <p:spPr>
          <a:xfrm>
            <a:off x="7114032" y="3401568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6995160" y="3621024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995160" y="4123944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Strategic moves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OUR RECOMMENDATIONS  |  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Three Workstreams Address the Problem in Sequence, and Each One Sets Up the Next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"/>
          <p:cNvSpPr/>
          <p:nvPr/>
        </p:nvSpPr>
        <p:spPr>
          <a:xfrm>
            <a:off x="457200" y="1536192"/>
            <a:ext cx="2633472" cy="2743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48640" y="1572768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Reporter-as-Creator  and Social Funnel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1810512"/>
            <a:ext cx="2633472" cy="2578608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57200" y="1810512"/>
            <a:ext cx="54864" cy="257860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03504" y="1865376"/>
            <a:ext cx="2377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Reporter-as-Creator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and Social Funnel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4"/>
          <p:cNvCxnSpPr/>
          <p:nvPr/>
        </p:nvCxnSpPr>
        <p:spPr>
          <a:xfrm>
            <a:off x="603504" y="240487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4"/>
          <p:cNvSpPr/>
          <p:nvPr/>
        </p:nvSpPr>
        <p:spPr>
          <a:xfrm>
            <a:off x="603504" y="24688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Fix the handoff from social discovery to BI's owned ecosystem. Named reporter-led short-form video formats paired with a referral mechanic that removes paywall friction entirely on first touch.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4389120"/>
            <a:ext cx="2633472" cy="2743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46120" y="1536192"/>
            <a:ext cx="2633472" cy="27432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337560" y="1572768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Free Daily Briefing  and Newsletter Verticals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246120" y="1810512"/>
            <a:ext cx="2633472" cy="2578608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246120" y="1810512"/>
            <a:ext cx="54864" cy="2578608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392424" y="1865376"/>
            <a:ext cx="2377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Free Daily Briefing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and Newsletter Verticals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4"/>
          <p:cNvCxnSpPr/>
          <p:nvPr/>
        </p:nvCxnSpPr>
        <p:spPr>
          <a:xfrm>
            <a:off x="3392424" y="240487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4"/>
          <p:cNvSpPr/>
          <p:nvPr/>
        </p:nvSpPr>
        <p:spPr>
          <a:xfrm>
            <a:off x="3392424" y="24688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Build a daily reading ritual before asking for money. A free personalized briefing builds the habit. Two career-utility newsletter verticals, Money Memo and Career Dispatch, are the subscription offer that follows.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246120" y="4389120"/>
            <a:ext cx="2633472" cy="2743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035040" y="1536192"/>
            <a:ext cx="2633472" cy="274320"/>
          </a:xfrm>
          <a:prstGeom prst="rect">
            <a:avLst/>
          </a:prstGeom>
          <a:solidFill>
            <a:srgbClr val="1C3F6E"/>
          </a:solidFill>
          <a:ln cap="flat" cmpd="sng" w="12700">
            <a:solidFill>
              <a:srgbClr val="1C3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126480" y="1572768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AI as Production  Force-Multiplier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035040" y="1810512"/>
            <a:ext cx="2633472" cy="2578608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035040" y="1810512"/>
            <a:ext cx="54864" cy="2578608"/>
          </a:xfrm>
          <a:prstGeom prst="rect">
            <a:avLst/>
          </a:prstGeom>
          <a:solidFill>
            <a:srgbClr val="1C3F6E"/>
          </a:solidFill>
          <a:ln cap="flat" cmpd="sng" w="12700">
            <a:solidFill>
              <a:srgbClr val="1C3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181344" y="1865376"/>
            <a:ext cx="2377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AI as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Force-Multiplier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4"/>
          <p:cNvCxnSpPr/>
          <p:nvPr/>
        </p:nvCxnSpPr>
        <p:spPr>
          <a:xfrm>
            <a:off x="6181344" y="240487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4"/>
          <p:cNvSpPr/>
          <p:nvPr/>
        </p:nvSpPr>
        <p:spPr>
          <a:xfrm>
            <a:off x="6181344" y="24688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Scale output without diluting editorial trust. A phased 90-day AI pilot expands BI's production capacity. Human reporters retain editorial voice and judgment at every stage.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035040" y="4389120"/>
            <a:ext cx="2633472" cy="2743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We Surveyed 112 People and Researched Four Pillars, Wide in Reach, Deep in Learning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5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5"/>
          <p:cNvSpPr/>
          <p:nvPr/>
        </p:nvSpPr>
        <p:spPr>
          <a:xfrm>
            <a:off x="457200" y="153619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SECONDARY RESEARCH  |  Four Pillars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1810512"/>
            <a:ext cx="3931920" cy="585216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1810512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85216" y="1883664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24128" y="18745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Vertical Video Mechanics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24128" y="21214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Reporter-led format testing, 3-second hook analysis and mobile-first retention metrics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2468880"/>
            <a:ext cx="3931920" cy="585216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57200" y="2468880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85216" y="2542032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024128" y="253288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Market Gap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024128" y="277977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Competitive audits of NYT, WSJ, Bloomberg and Substack to find underserved verticals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3127248"/>
            <a:ext cx="3931920" cy="585216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57200" y="3127248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85216" y="3200400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24128" y="3191256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Growth and Monetization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24128" y="3438144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Referral mechanics, paywall friction mapping and employer-bundle pricing strategy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3785616"/>
            <a:ext cx="3931920" cy="585216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57200" y="3785616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85216" y="3858768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24128" y="3849624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AI Strategy and Trust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24128" y="4096512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How AI affects reader trust, paywall bypass behavior and content production capacity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5"/>
          <p:cNvCxnSpPr/>
          <p:nvPr/>
        </p:nvCxnSpPr>
        <p:spPr>
          <a:xfrm>
            <a:off x="4526280" y="1536192"/>
            <a:ext cx="0" cy="2852928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5"/>
          <p:cNvSpPr/>
          <p:nvPr/>
        </p:nvSpPr>
        <p:spPr>
          <a:xfrm>
            <a:off x="4663440" y="153619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PRIMARY SURVEY  |  What We Found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663440" y="1847088"/>
            <a:ext cx="1828800" cy="126187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736592" y="195681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112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736592" y="256032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Total survey respondents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693408" y="1847088"/>
            <a:ext cx="1828800" cy="12618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6766560" y="195681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70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766560" y="256032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Aged 18-34 (target segment)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663440" y="3264408"/>
            <a:ext cx="1828800" cy="12618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736592" y="337413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30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736592" y="397764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Questions across all 4 pillars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693408" y="3264408"/>
            <a:ext cx="1828800" cy="12618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766560" y="337413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63%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766560" y="397764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Majority in core demographic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85216" y="4526280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Bottom line: We went wide across 112 respondents to find patterns, and deep into four research pillars to understand the competitive context. Every recommendation that follows draws from both.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AUDIENCE HABITS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Social Media Is BI's Primary Discovery Channel, But Readers Arrive Through Platforms BI Cannot Monetize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6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9377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559552" y="1792224"/>
            <a:ext cx="3127248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559552" y="1792224"/>
            <a:ext cx="54864" cy="87782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705856" y="1883664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BI's reach is borrowed, not owned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705856" y="2157984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49 of 112 respondents discover news first on social. BI's content is found on TikTok, Instagram and YouTube, platforms that capture engagement value without returning it to BI.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559552" y="2752344"/>
            <a:ext cx="3127248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559552" y="2752344"/>
            <a:ext cx="54864" cy="87782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705856" y="2843784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Email is an underused loyalty asset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705856" y="3118104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Only 13 respondents cite newsletters as their primary discovery channel, despite newsletters delivering the highest subscription conversion rates in digital media.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559552" y="3712464"/>
            <a:ext cx="3127248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559552" y="3712464"/>
            <a:ext cx="54864" cy="87782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705850" y="3726201"/>
            <a:ext cx="285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morning window is the key activation moment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705856" y="4078224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Early morning before 9am is the number one consumption time slot. BI's notification and newsletter cadence should target 6-8am to compete for this daily habit window.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VIDEO BEHAVIOR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43% Scroll Past After a News Video; BI Captures Only 16% Who Seek the Full Article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7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7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023300" cy="28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4645152" y="1792224"/>
            <a:ext cx="1719072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718304" y="184708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43%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718304" y="2340864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scroll past without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engaging further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73952" y="1792224"/>
            <a:ext cx="1719072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547104" y="184708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16%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547104" y="2340864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seek the full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article on BI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645152" y="28529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How to close the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645152" y="3163824"/>
            <a:ext cx="1536192" cy="18288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709160" y="3191256"/>
            <a:ext cx="1463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773168" y="3383280"/>
            <a:ext cx="34015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reporter visible in the first 3 seconds drives significantly higher retention than a title card or voiceover alone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773168" y="3950208"/>
            <a:ext cx="34015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Embedding an article link as an on-screen call to action captures the 16% already looking for more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773168" y="4517136"/>
            <a:ext cx="34015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referral mechanic replaces paywall friction with peer trust at the moment of conversion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AI AND TRUST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84% Say AI-Written Content Erodes Trust, Yet 63% Already Use AI to Bypass BI's Paywall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8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8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663440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5285232" y="1792224"/>
            <a:ext cx="1664208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358384" y="1847088"/>
            <a:ext cx="15179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63%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358384" y="2340864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use AI to bypass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paywalls occasionally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022592" y="1792224"/>
            <a:ext cx="1664208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095744" y="1847088"/>
            <a:ext cx="15179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55%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095744" y="2340864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still read with visible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human sign-off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285232" y="2852928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What this means for BI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85232" y="3145536"/>
            <a:ext cx="34015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 is most dangerous as a substitute for human journalism. BI's competitive advantage is its named reporters, editorial point of view and institutional credibility. None of these can be replicated by a language model.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However, 55% would still read AI-assisted content when human sign-off is clearly visible. AI as a production tool is viable. AI as an author is not.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85216" y="4526280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RISK:  Readers who habitually use AI to summarize BI articles have a significantly lower subscription conversion probability. Reducing paywall friction is a parallel priority, not a sequential one.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MONETIZATION AND MARKET GAPS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Career Utility Unlocks Willingness to Pay; BI Underserves the Three Verticals This Audience Values Most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9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133088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4754880" y="1499616"/>
            <a:ext cx="1536192" cy="18288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818888" y="1527048"/>
            <a:ext cx="1463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754880" y="1847088"/>
            <a:ext cx="3931920" cy="8046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754880" y="184708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046720" y="1920240"/>
            <a:ext cx="566928" cy="2011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8065008" y="19385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901184" y="19202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Personal Finance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901184" y="223113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Morning Brew leads here; BI wins on data journalism depth and source access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754880" y="2761488"/>
            <a:ext cx="3931920" cy="8046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754880" y="276148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8046720" y="2834640"/>
            <a:ext cx="566928" cy="2011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8065008" y="2852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01184" y="28346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Career Development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901184" y="314553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LinkedIn dominates on reach; BI beats them on reporting depth and insider access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754880" y="3675888"/>
            <a:ext cx="3931920" cy="8046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754880" y="367588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046720" y="3749040"/>
            <a:ext cx="566928" cy="201168"/>
          </a:xfrm>
          <a:prstGeom prst="rect">
            <a:avLst/>
          </a:prstGeom>
          <a:solidFill>
            <a:srgbClr val="CC6600"/>
          </a:solidFill>
          <a:ln cap="flat" cmpd="sng" w="12700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8065008" y="37673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GROWING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901184" y="37490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Entrepreneurship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901184" y="405993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Substack and podcast creators own this; BI has no dedicated newsletter presence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66928" y="4517136"/>
            <a:ext cx="80101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38% of respondents would pay $10+ per month if content supports career or investment decisions  |  39% have employer subscription budgets, B2B path is validated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INSIGHT  01  |  AUDIENCE BEHAVIOR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Discovery Is Happening. The Conversion Is Not. Friction at the Social-to-Owned Handoff Is the Root Problem.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10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10"/>
          <p:cNvSpPr/>
          <p:nvPr/>
        </p:nvSpPr>
        <p:spPr>
          <a:xfrm>
            <a:off x="457200" y="1536192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40080" y="15727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49 of 112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40080" y="1938528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respondents discover BI first on social media. The audience exists. The designed path from social into BI's owned ecosystem does not.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269480" y="1572768"/>
            <a:ext cx="1417320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7324344" y="1591056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2468880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40080" y="250545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51%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40080" y="2871216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of 18-34 year-olds pay more attention to individual news creators than to news brand accounts. The reporter personality is the hook, not the BI masthead.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296912" y="2505456"/>
            <a:ext cx="1389888" cy="18288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7351776" y="2523744"/>
            <a:ext cx="1335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340156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40080" y="343814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85%+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40080" y="3803904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referral conversion rate achieved by Morning Brew using a peer-invite mechanic. Peer trust removes the paywall moment entirely for new subscribers.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296912" y="3438144"/>
            <a:ext cx="1389888" cy="18288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7351776" y="3456432"/>
            <a:ext cx="1335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585216" y="4425696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IMPLICATION: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011680" y="4425696"/>
            <a:ext cx="6565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 4-step funnel: Hook via reporter-led video, Bridge to BI article with no paywall on first touch. Engage through daily briefing and newsletter opt-in, Convert through referral mechanic and employer bundle.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INSIGHT  02  |  ENGAGEMENT MODEL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Readers Do Not Cancel Because of Price. They Cancel Because BI Never Became Part of Their Daily Routine.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11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1"/>
          <p:cNvSpPr/>
          <p:nvPr/>
        </p:nvSpPr>
        <p:spPr>
          <a:xfrm>
            <a:off x="457200" y="1536192"/>
            <a:ext cx="3840480" cy="5303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594360" y="157276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 a content problem.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94360" y="179222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CCCC"/>
                </a:solidFill>
                <a:latin typeface="Georgia"/>
                <a:ea typeface="Georgia"/>
                <a:cs typeface="Georgia"/>
                <a:sym typeface="Georgia"/>
              </a:rPr>
              <a:t>A ritual problem.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7200" y="2176272"/>
            <a:ext cx="54864" cy="6583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40080" y="221284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35%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40080" y="2505456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of respondents who cancelled said they did not use it enough, not that it was too expensive or too low quality. Habit is the retention mechanism.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269480" y="2212848"/>
            <a:ext cx="1417320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324344" y="2231136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7200" y="2980944"/>
            <a:ext cx="54864" cy="6583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40080" y="30175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73/112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40080" y="3310128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respondents said daily one-minute summaries would bring them back every day, the top habit driver, nearly double personalized feeds and newsletters.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269480" y="3017520"/>
            <a:ext cx="1417320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7324344" y="3035808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3785616"/>
            <a:ext cx="54864" cy="6583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640080" y="376733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90 days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40080" y="4023350"/>
            <a:ext cx="52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is the make-or-break retention window. Habit and community features extend subscriber lifetime by 13-24%. The subscription ask must come after the habit forms.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7296912" y="3822192"/>
            <a:ext cx="1389888" cy="18288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7351776" y="3840480"/>
            <a:ext cx="1335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126480" y="1857947"/>
            <a:ext cx="2560200" cy="2249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254496" y="228600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5-Visit Rule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1"/>
          <p:cNvCxnSpPr/>
          <p:nvPr/>
        </p:nvCxnSpPr>
        <p:spPr>
          <a:xfrm>
            <a:off x="6254496" y="2596896"/>
            <a:ext cx="2304288" cy="0"/>
          </a:xfrm>
          <a:prstGeom prst="straightConnector1">
            <a:avLst/>
          </a:prstGeom>
          <a:noFill/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1"/>
          <p:cNvSpPr/>
          <p:nvPr/>
        </p:nvSpPr>
        <p:spPr>
          <a:xfrm>
            <a:off x="6254496" y="2651760"/>
            <a:ext cx="230428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Surface the subscription offer only after a reader has returned 5 or more times. Measure return visits over 30 to 60 days. Convert the habitual reader, not just the curious one.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585216" y="4425696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IMPLICATION: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011680" y="4425696"/>
            <a:ext cx="6565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BI does not have a content problem. It has a ritual problem. A free personalized daily briefing with no paywall is the habit engine. Career and finance newsletter verticals are the subscription product that follows.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INSIGHT  03  |  AI STRATEGY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Destroys Value as an Author and Creates Value as Invisible Production Infrastructure.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2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2"/>
          <p:cNvSpPr/>
          <p:nvPr/>
        </p:nvSpPr>
        <p:spPr>
          <a:xfrm>
            <a:off x="457200" y="1536192"/>
            <a:ext cx="3886200" cy="237744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566928" y="1572768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AI AS AUTHOR  |  destroys trust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453128" y="1536192"/>
            <a:ext cx="4233672" cy="2377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562856" y="1572768"/>
            <a:ext cx="4014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AS PRODUCTION TOOL  |  scales output, preserves trust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85216" y="1865376"/>
            <a:ext cx="35204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AI-written bylines: 84% of survey respondents say this reduces trust or willingness to pay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85216" y="2523744"/>
            <a:ext cx="35204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AI making news judgment calls or setting the editorial agenda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85216" y="3182112"/>
            <a:ext cx="35204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AI-generated video presenters with no human face or voice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62856" y="186537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Video transcription and script generation from existing reporter interviews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62856" y="241401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Article-to-newsletter brief conversion, cutting production time without replacing editorial voice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62856" y="296265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SEO optimisation, headline A/B testing and topic trend detection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62856" y="351129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Personalized content feed curation to increase return visit frequency and reduce churn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85216" y="4270248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49224" y="4297680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2212848" y="4270248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55% of respondents would still read AI-assisted content when human sign-off is clearly visible. The guardrail is transparency and human oversight, not the absence of AI entirely.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RECOMMENDATION  01  |  REPORTER-AS-CREATOR AND SOCIAL FUNNEL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Three Reporter-Led Video Formats and a Referral Funnel Convert Social Viewers Into Subscribers Without a Hard Paywall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3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3"/>
          <p:cNvSpPr/>
          <p:nvPr/>
        </p:nvSpPr>
        <p:spPr>
          <a:xfrm>
            <a:off x="457200" y="1536192"/>
            <a:ext cx="1938528" cy="166420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53035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3"/>
          <p:cNvCxnSpPr/>
          <p:nvPr/>
        </p:nvCxnSpPr>
        <p:spPr>
          <a:xfrm>
            <a:off x="54864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3"/>
          <p:cNvSpPr/>
          <p:nvPr/>
        </p:nvSpPr>
        <p:spPr>
          <a:xfrm>
            <a:off x="53035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TikTok / Instagram / YouTube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3035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Reporter-led 60-second hook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2377410" y="2203759"/>
            <a:ext cx="12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560320" y="1536192"/>
            <a:ext cx="1938528" cy="1664208"/>
          </a:xfrm>
          <a:prstGeom prst="rect">
            <a:avLst/>
          </a:prstGeom>
          <a:solidFill>
            <a:srgbClr val="AA1111"/>
          </a:solidFill>
          <a:ln cap="flat" cmpd="sng" w="12700">
            <a:solidFill>
              <a:srgbClr val="AA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263347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13"/>
          <p:cNvCxnSpPr/>
          <p:nvPr/>
        </p:nvCxnSpPr>
        <p:spPr>
          <a:xfrm>
            <a:off x="265176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3"/>
          <p:cNvSpPr/>
          <p:nvPr/>
        </p:nvSpPr>
        <p:spPr>
          <a:xfrm>
            <a:off x="263347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BI Article or Newsletter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263347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Frictionless link, no paywall on first touch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453117" y="2157984"/>
            <a:ext cx="12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663440" y="1536192"/>
            <a:ext cx="1938528" cy="1664208"/>
          </a:xfrm>
          <a:prstGeom prst="rect">
            <a:avLst/>
          </a:prstGeom>
          <a:solidFill>
            <a:srgbClr val="881111"/>
          </a:solidFill>
          <a:ln cap="flat" cmpd="sng" w="12700">
            <a:solidFill>
              <a:srgbClr val="88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473659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ENGAGE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3"/>
          <p:cNvCxnSpPr/>
          <p:nvPr/>
        </p:nvCxnSpPr>
        <p:spPr>
          <a:xfrm>
            <a:off x="475488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3"/>
          <p:cNvSpPr/>
          <p:nvPr/>
        </p:nvSpPr>
        <p:spPr>
          <a:xfrm>
            <a:off x="473659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Daily Briefing and Newsletter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73659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Career Intel and Money Moves opt-in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528837" y="2157922"/>
            <a:ext cx="12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766560" y="1536192"/>
            <a:ext cx="1938528" cy="1664208"/>
          </a:xfrm>
          <a:prstGeom prst="rect">
            <a:avLst/>
          </a:prstGeom>
          <a:solidFill>
            <a:srgbClr val="551111"/>
          </a:solidFill>
          <a:ln cap="flat" cmpd="sng" w="12700">
            <a:solidFill>
              <a:srgbClr val="55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683971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3"/>
          <p:cNvCxnSpPr/>
          <p:nvPr/>
        </p:nvCxnSpPr>
        <p:spPr>
          <a:xfrm>
            <a:off x="685800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3"/>
          <p:cNvSpPr/>
          <p:nvPr/>
        </p:nvSpPr>
        <p:spPr>
          <a:xfrm>
            <a:off x="683971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Referral Mechanic and Employer Bundle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83971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Peer trust removes paywall friction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57200" y="3310128"/>
            <a:ext cx="2633472" cy="107899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457200" y="3310128"/>
            <a:ext cx="54864" cy="107899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603504" y="33832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Brief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194560" y="34015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Daily  |  60 seconds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03504" y="367588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Named BI reporter covers the top 3 business headlines. Opens with reporter on screen. Closes with a direct link to the full article on BI.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3246120" y="3310128"/>
            <a:ext cx="2633472" cy="107899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3246120" y="3310128"/>
            <a:ext cx="54864" cy="107899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3392424" y="33832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Money Moves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983480" y="34015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3x per week  |  90 seconds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3392424" y="367588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Personal finance reporter covers one actionable topic per episode. Connects to the Money Memo newsletter with a direct opt-in call to action.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035040" y="3310128"/>
            <a:ext cx="2633472" cy="107899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6035040" y="3310128"/>
            <a:ext cx="54864" cy="107899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181344" y="33832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Career Intel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772400" y="34015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2x per week  |  2 minutes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181344" y="367588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Job market reporter with an occasional guest expert. Connects to Career Dispatch newsletter. Subscriber opt-in embedded in the final frame.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RECOMMENDATION  02  |  HABIT FORMATION AND NEWSLETTER VERTICALS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 Free Daily Briefing Builds the Reading Ritual; Two Career-Utility Newsletters Are the Subscription Offer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14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4"/>
          <p:cNvSpPr/>
          <p:nvPr/>
        </p:nvSpPr>
        <p:spPr>
          <a:xfrm>
            <a:off x="457200" y="1536192"/>
            <a:ext cx="8229600" cy="54864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603504" y="159105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FREE DAILY BRIEFING  |  No paywall  |  No subscription 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03504" y="1810512"/>
            <a:ext cx="79369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60-second personalized briefing by interest area. No paywall. Surface the subscription offer only after 5 or more return visits.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57200" y="2176272"/>
            <a:ext cx="4069080" cy="23591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457200" y="217627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566928" y="2221992"/>
            <a:ext cx="3849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MONEY MEMO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66928" y="2560320"/>
            <a:ext cx="3849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PERSONAL FINANCE  |  EVERY MONDAY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658368" y="27797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Salary negotiation playbooks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658368" y="30723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Investing basics: ETFs and index funds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658368" y="336499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Side income and freelance tax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658368" y="3657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Financial planning for career transitions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4"/>
          <p:cNvCxnSpPr/>
          <p:nvPr/>
        </p:nvCxnSpPr>
        <p:spPr>
          <a:xfrm>
            <a:off x="566928" y="3986784"/>
            <a:ext cx="384962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4"/>
          <p:cNvSpPr/>
          <p:nvPr/>
        </p:nvSpPr>
        <p:spPr>
          <a:xfrm>
            <a:off x="566928" y="4023360"/>
            <a:ext cx="3849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Gap: Morning Brew leads here; BI wins on data journalism depth and source access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681728" y="2176272"/>
            <a:ext cx="4069080" cy="23591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4681728" y="2176272"/>
            <a:ext cx="4069080" cy="329184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4791456" y="2221992"/>
            <a:ext cx="3849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CAREER DISPATCH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791456" y="2560320"/>
            <a:ext cx="3849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A6B3A"/>
                </a:solidFill>
                <a:latin typeface="Calibri"/>
                <a:ea typeface="Calibri"/>
                <a:cs typeface="Calibri"/>
                <a:sym typeface="Calibri"/>
              </a:rPr>
              <a:t>CAREER DEVELOPMENT  |  EVERY WEDNESDAY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4882896" y="27797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Job market weekly pulse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4882896" y="30723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Skills in demand: AI, data and finance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882896" y="336499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Interview preparation with industry insiders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882896" y="3657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Workplace culture and remote work trends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4"/>
          <p:cNvCxnSpPr/>
          <p:nvPr/>
        </p:nvCxnSpPr>
        <p:spPr>
          <a:xfrm>
            <a:off x="4791456" y="3986784"/>
            <a:ext cx="384962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4"/>
          <p:cNvSpPr/>
          <p:nvPr/>
        </p:nvSpPr>
        <p:spPr>
          <a:xfrm>
            <a:off x="4791456" y="4023360"/>
            <a:ext cx="3849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Gap: LinkedIn dominates on reach; BI beats them on reporting depth and insider access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566928" y="4517136"/>
            <a:ext cx="80101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Pricing: $5 to $10 per month (48% of respondents)  |  Employer-billed bundles for the 39% with company subscription budgets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RECOMMENDATION  03  |  AI AS PRODUCTION FORCE-MULTIPLIER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Deploy AI as a Production Force-Multiplier Now and Build a Proprietary Content Data Advantage Over Time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5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5"/>
          <p:cNvSpPr/>
          <p:nvPr/>
        </p:nvSpPr>
        <p:spPr>
          <a:xfrm>
            <a:off x="457200" y="1536192"/>
            <a:ext cx="5074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PHASE 1  |  90-Day Production Pilot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57200" y="1828800"/>
            <a:ext cx="50749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457200" y="1828800"/>
            <a:ext cx="54864" cy="6949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603504" y="1901952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10% Pilot  |  Days 1-30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03504" y="2157984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AI-assisted video transcription, article-to-script conversion and thumbnail A/B testing. Human editors review all output before every publish.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57200" y="2615184"/>
            <a:ext cx="50749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457200" y="2615184"/>
            <a:ext cx="54864" cy="6949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603504" y="2688336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25% Scale  |  Days 31-60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03504" y="2944368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Newsletter brief generation, SEO headline optimisation and topic trend detection. Measure quality and engagement versus manual baseline.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57200" y="3401568"/>
            <a:ext cx="50749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457200" y="3401568"/>
            <a:ext cx="54864" cy="6949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603504" y="3474720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50% Integration  |  Days 61-90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03504" y="3730752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Full workflow integration with human-in-the-loop sign-off at every stage. AI handles production scale; reporters retain editorial voice and judgment.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5650992" y="1536192"/>
            <a:ext cx="3035808" cy="23774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5760720" y="1572768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PHASE 2  |  Content Data Advantage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5650992" y="1828800"/>
            <a:ext cx="3035808" cy="78638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5650992" y="1828800"/>
            <a:ext cx="54864" cy="7863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5742432" y="1901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6291072" y="188366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Insider Knowledge Base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5742432" y="2176272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Structure 10+ years of verified BI reporting into a searchable intelligence product. Validated by 70% of respondents expressing interest in a single company-intelligence platform.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5650992" y="2706624"/>
            <a:ext cx="3035808" cy="78638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5650992" y="2706624"/>
            <a:ext cx="54864" cy="7863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5742432" y="277977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6291072" y="276148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Proprietary Data Layer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742432" y="3054096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BI's exclusive source relationships, verified documents and investigative datasets cannot be replicated by a public language model. This is the defensible content moat.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5650992" y="3584448"/>
            <a:ext cx="3035808" cy="78638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5650992" y="3584448"/>
            <a:ext cx="54864" cy="7863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5742432" y="365760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6291072" y="363931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Content Licensing Recovery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5742432" y="393192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Identify unauthorized use of BI content and convert those contacts into licensing relationships, recovering revenue from a high-margin stream.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RISKS AND GUARDRAILS  |  AI DEPLOYMENT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Our Recommendations Carry Real AI Risks, These Five Guardrails Make Them 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16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6"/>
          <p:cNvSpPr/>
          <p:nvPr/>
        </p:nvSpPr>
        <p:spPr>
          <a:xfrm>
            <a:off x="457200" y="1536192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57200" y="1536192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457200" y="15819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859536" y="1609344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 AI bylines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859536" y="1920240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Reporters own every piece of content. AI is invisible production infrastructure, never a named contributor or author.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57200" y="2523744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457200" y="2523744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457200" y="256946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859536" y="2596896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Human editorial sign-off before every publish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859536" y="2907792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Every AI-assisted piece requires reporter or editor approval before going live. No exceptions at any stage of the pilot.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57200" y="3511296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457200" y="3511296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457200" y="355701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859536" y="3584448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AI never sets the editorial agenda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859536" y="3895344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 surfaces trend signals and suggests topics based on engagement data. Reporters make every news judgment call.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4681728" y="1536192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4681728" y="1536192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4681728" y="15819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084064" y="1609344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Trust metrics monitored weekly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5084064" y="1920240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Shares, time on page and subscription rates tracked continuously. Any decline triggers immediate review of AI output.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681728" y="2523744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4681728" y="2523744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4681728" y="256946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084064" y="2596896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Proprietary data isolated from external crawlers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084064" y="2907792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BI's investigative data, source notes and exclusive datasets are separated from public AI training pipelines and external API access.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566928" y="4517136"/>
            <a:ext cx="80101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DATA VALIDATION  |  55% of respondents would still read AI-assisted content when human sign-off is clearly visible. Transparency is the guardrail, not the absence of AI.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ROADMAP  |  90-DAY ACTIVATION PLAN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 </a:t>
            </a: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 Streams</a:t>
            </a: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Over 90 Days Build the Habit First and Unlock Subscription Conversion by Month 6.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17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17"/>
          <p:cNvSpPr/>
          <p:nvPr/>
        </p:nvSpPr>
        <p:spPr>
          <a:xfrm>
            <a:off x="457200" y="1536192"/>
            <a:ext cx="2670048" cy="2377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548640" y="1572768"/>
            <a:ext cx="2487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WORKSTREAM 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457200" y="1828800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Reporter-as-Creator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Social Funnel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457200" y="23591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1207008" y="235915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Define 3 video formats and production template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457200" y="29077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207008" y="290779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Pilot The Brief: 5 episodes, measure retention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457200" y="34564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1207008" y="345643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Launch Money Moves and Career Intel formats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457200" y="40050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1207008" y="400507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Publish video playbook and make scale decision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3273552" y="1536192"/>
            <a:ext cx="2670048" cy="237744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3364992" y="1572768"/>
            <a:ext cx="2487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WORKSTREAM 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3273552" y="1828800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Daily Briefing 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Newsletter Verticals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3273552" y="23591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4023360" y="235915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Audit newsletter list and define vertical segments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3273552" y="29077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4023360" y="290779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Launch Money Memo pilot to 5,000 subscribers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3273552" y="34564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4023360" y="345643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Launch Career Dispatch and A/B test subject lines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3273552" y="40050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4023360" y="400507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Analyze open rates, clicks and paid conversion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6089904" y="1536192"/>
            <a:ext cx="2670048" cy="237744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6181344" y="1572768"/>
            <a:ext cx="2487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WORKSTREAM 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6089904" y="1828800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Production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Pilot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6089904" y="23591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6839712" y="235915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Identify AI tools and define governance rules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6089904" y="29077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6839712" y="290779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10% pilot: transcription and script generation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089904" y="34564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6839712" y="345643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25% expansion: newsletter briefs and SEO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6089904" y="40050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6839712" y="400507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Review metrics and make 50% integration decision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585216" y="4535424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Success metrics:  35%+ video retention  |  500+ newsletter opt-ins per week  |  Paywall conversion lift of 15% by Month 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